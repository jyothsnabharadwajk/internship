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731520" y="1097280"/>
            <a:ext cx="10728655" cy="4663440"/>
          </a:xfrm>
          <a:prstGeom prst="rect">
            <a:avLst/>
          </a:prstGeom>
          <a:solidFill>
            <a:srgbClr val="1E293B"/>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731520" tIns="731520"/>
          <a:lstStyle/>
          <a:p>
            <a:pPr algn="ctr">
              <a:defRPr sz="1600" b="1">
                <a:solidFill>
                  <a:srgbClr val="06B6D4"/>
                </a:solidFill>
              </a:defRPr>
            </a:pPr>
            <a:r>
              <a:t>NCERT CLASS 11 CHEMISTRY • UNIT 4</a:t>
            </a:r>
          </a:p>
          <a:p>
            <a:pPr>
              <a:spcBef>
                <a:spcPts val="1400"/>
              </a:spcBef>
              <a:spcAft>
                <a:spcPts val="2000"/>
              </a:spcAft>
              <a:defRPr sz="4000" b="1">
                <a:solidFill>
                  <a:srgbClr val="FFFFFF"/>
                </a:solidFill>
              </a:defRPr>
            </a:pPr>
            <a:r>
              <a:t>Chemical Bonding &amp;</a:t>
            </a:r>
            <a:br/>
            <a:r>
              <a:t>Molecular Structure</a:t>
            </a:r>
          </a:p>
          <a:p>
            <a:pPr>
              <a:defRPr sz="1800">
                <a:solidFill>
                  <a:srgbClr val="9CA3AF"/>
                </a:solidFill>
              </a:defRPr>
            </a:pPr>
            <a:r>
              <a:t>Complete Visual Concept Library, VSEPR Geometries &amp; Solved Exercises Suite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a:spAutoFit/>
          </a:bodyPr>
          <a:lstStyle/>
          <a:p>
            <a:pPr>
              <a:defRPr sz="2200" b="1">
                <a:solidFill>
                  <a:srgbClr val="06B6D4"/>
                </a:solidFill>
              </a:defRPr>
            </a:pPr>
            <a:r>
              <a:t>4.1 KÖSSEL-LEWIS APPROACH TO CHEMICAL BONDING</a:t>
            </a:r>
          </a:p>
        </p:txBody>
      </p:sp>
      <p:sp>
        <p:nvSpPr>
          <p:cNvPr id="3" name="Rectangle 2"/>
          <p:cNvSpPr/>
          <p:nvPr/>
        </p:nvSpPr>
        <p:spPr>
          <a:xfrm>
            <a:off x="731520" y="1188720"/>
            <a:ext cx="10728655" cy="1005840"/>
          </a:xfrm>
          <a:prstGeom prst="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400">
                <a:solidFill>
                  <a:srgbClr val="FFFFFF"/>
                </a:solidFill>
              </a:defRPr>
            </a:pPr>
            <a:r>
              <a:t>Kössel and Lewis (1916) independently provided logical explanations of valence based on noble gas stability. Lewis introduced Lewis symbols, octet rule, and dot structures.</a:t>
            </a:r>
          </a:p>
        </p:txBody>
      </p:sp>
      <p:sp>
        <p:nvSpPr>
          <p:cNvPr id="4" name="TextBox 3"/>
          <p:cNvSpPr txBox="1"/>
          <p:nvPr/>
        </p:nvSpPr>
        <p:spPr>
          <a:xfrm>
            <a:off x="731520" y="2377440"/>
            <a:ext cx="10728655" cy="3840480"/>
          </a:xfrm>
          <a:prstGeom prst="rect">
            <a:avLst/>
          </a:prstGeom>
          <a:noFill/>
        </p:spPr>
        <p:txBody>
          <a:bodyPr wrap="square">
            <a:spAutoFit/>
          </a:bodyPr>
          <a:lstStyle/>
          <a:p>
            <a:pPr>
              <a:spcBef>
                <a:spcPts val="1000"/>
              </a:spcBef>
              <a:defRPr sz="1600" b="1">
                <a:solidFill>
                  <a:srgbClr val="6366F1"/>
                </a:solidFill>
              </a:defRPr>
            </a:pPr>
            <a:r>
              <a:t>• 4.1.1 Octet Rule</a:t>
            </a:r>
          </a:p>
          <a:p>
            <a:pPr>
              <a:defRPr sz="1300">
                <a:solidFill>
                  <a:srgbClr val="FFFFFF"/>
                </a:solidFill>
              </a:defRPr>
            </a:pPr>
            <a:r>
              <a:t>   Atoms combine either by transfer of valence electrons from one atom to another (gaining or losing) or by sharing of valence electrons in order to have an octet (eight electrons) in their valence shells. Every system tend...</a:t>
            </a:r>
          </a:p>
          <a:p>
            <a:pPr>
              <a:spcBef>
                <a:spcPts val="1000"/>
              </a:spcBef>
              <a:defRPr sz="1600" b="1">
                <a:solidFill>
                  <a:srgbClr val="6366F1"/>
                </a:solidFill>
              </a:defRPr>
            </a:pPr>
            <a:r>
              <a:t>• 4.1.2 Covalent Bond &amp; Lewis Symbols</a:t>
            </a:r>
          </a:p>
          <a:p>
            <a:pPr>
              <a:defRPr sz="1300">
                <a:solidFill>
                  <a:srgbClr val="FFFFFF"/>
                </a:solidFill>
              </a:defRPr>
            </a:pPr>
            <a:r>
              <a:t>   Langmuir (1919) refined Lewis postulations by introducing the term 'covalent bond'. When two atoms share one electron pair, they form a single covalent bond (e.g. Cl2, H2O, CCl4). Multiple bonds form when two or three el...</a:t>
            </a:r>
          </a:p>
          <a:p>
            <a:pPr>
              <a:spcBef>
                <a:spcPts val="1000"/>
              </a:spcBef>
              <a:defRPr sz="1600" b="1">
                <a:solidFill>
                  <a:srgbClr val="6366F1"/>
                </a:solidFill>
              </a:defRPr>
            </a:pPr>
            <a:r>
              <a:t>• 4.1.3 Lewis Representation of Simple Molecules</a:t>
            </a:r>
          </a:p>
          <a:p>
            <a:pPr>
              <a:defRPr sz="1300">
                <a:solidFill>
                  <a:srgbClr val="FFFFFF"/>
                </a:solidFill>
              </a:defRPr>
            </a:pPr>
            <a:r>
              <a:t>   Steps to draw Lewis structures: 1. Count total valence electrons of combining atoms. 2. For anions, add electrons equal to negative charge; for cations, subtract electrons. 3. Identify central atom (usually least electro...</a:t>
            </a:r>
          </a:p>
        </p:txBody>
      </p:sp>
      <p:sp>
        <p:nvSpPr>
          <p:cNvPr id="5" name="TextBox 4"/>
          <p:cNvSpPr txBox="1"/>
          <p:nvPr/>
        </p:nvSpPr>
        <p:spPr>
          <a:xfrm>
            <a:off x="731520" y="6309360"/>
            <a:ext cx="10728655" cy="365760"/>
          </a:xfrm>
          <a:prstGeom prst="rect">
            <a:avLst/>
          </a:prstGeom>
          <a:noFill/>
        </p:spPr>
        <p:txBody>
          <a:bodyPr wrap="none">
            <a:spAutoFit/>
          </a:bodyPr>
          <a:lstStyle/>
          <a:p>
            <a:pPr>
              <a:defRPr sz="1000">
                <a:solidFill>
                  <a:srgbClr val="9CA3AF"/>
                </a:solidFill>
              </a:defRPr>
            </a:pPr>
            <a:r>
              <a:t>ChemBondStudio • NCERT Class 11 Chemistry Chapter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a:spAutoFit/>
          </a:bodyPr>
          <a:lstStyle/>
          <a:p>
            <a:pPr>
              <a:defRPr sz="2200" b="1">
                <a:solidFill>
                  <a:srgbClr val="06B6D4"/>
                </a:solidFill>
              </a:defRPr>
            </a:pPr>
            <a:r>
              <a:t>4.2 IONIC OR ELECTROVALENT BOND</a:t>
            </a:r>
          </a:p>
        </p:txBody>
      </p:sp>
      <p:sp>
        <p:nvSpPr>
          <p:cNvPr id="3" name="Rectangle 2"/>
          <p:cNvSpPr/>
          <p:nvPr/>
        </p:nvSpPr>
        <p:spPr>
          <a:xfrm>
            <a:off x="731520" y="1188720"/>
            <a:ext cx="10728655" cy="1005840"/>
          </a:xfrm>
          <a:prstGeom prst="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400">
                <a:solidFill>
                  <a:srgbClr val="FFFFFF"/>
                </a:solidFill>
              </a:defRPr>
            </a:pPr>
            <a:r>
              <a:t>Ionic bonds are formed by electrostatic attraction between positive cations and negative anions resulting from electron transfer.</a:t>
            </a:r>
          </a:p>
        </p:txBody>
      </p:sp>
      <p:sp>
        <p:nvSpPr>
          <p:cNvPr id="4" name="TextBox 3"/>
          <p:cNvSpPr txBox="1"/>
          <p:nvPr/>
        </p:nvSpPr>
        <p:spPr>
          <a:xfrm>
            <a:off x="731520" y="2377440"/>
            <a:ext cx="10728655" cy="3840480"/>
          </a:xfrm>
          <a:prstGeom prst="rect">
            <a:avLst/>
          </a:prstGeom>
          <a:noFill/>
        </p:spPr>
        <p:txBody>
          <a:bodyPr wrap="square">
            <a:spAutoFit/>
          </a:bodyPr>
          <a:lstStyle/>
          <a:p>
            <a:pPr>
              <a:spcBef>
                <a:spcPts val="1000"/>
              </a:spcBef>
              <a:defRPr sz="1600" b="1">
                <a:solidFill>
                  <a:srgbClr val="6366F1"/>
                </a:solidFill>
              </a:defRPr>
            </a:pPr>
            <a:r>
              <a:t>• Factors Favoring Ionic Bond Formation</a:t>
            </a:r>
          </a:p>
          <a:p>
            <a:pPr>
              <a:defRPr sz="1300">
                <a:solidFill>
                  <a:srgbClr val="FFFFFF"/>
                </a:solidFill>
              </a:defRPr>
            </a:pPr>
            <a:r>
              <a:t>   1. Low Ionization Enthalpy (ΔiH) of the metal atom (easier cation formation, M -&gt; M+ + e-). 2. High Negative Electron Gain Enthalpy (ΔegH) of non-metal atom (exothermic electron addition, X + e- -&gt; X-). 3. High Lattice E...</a:t>
            </a:r>
          </a:p>
          <a:p>
            <a:pPr>
              <a:spcBef>
                <a:spcPts val="1000"/>
              </a:spcBef>
              <a:defRPr sz="1600" b="1">
                <a:solidFill>
                  <a:srgbClr val="6366F1"/>
                </a:solidFill>
              </a:defRPr>
            </a:pPr>
            <a:r>
              <a:t>• 4.2.1 Lattice Enthalpy</a:t>
            </a:r>
          </a:p>
          <a:p>
            <a:pPr>
              <a:defRPr sz="1300">
                <a:solidFill>
                  <a:srgbClr val="FFFFFF"/>
                </a:solidFill>
              </a:defRPr>
            </a:pPr>
            <a:r>
              <a:t>   Lattice Enthalpy of an ionic solid is defined as the energy required to completely separate one mole of a solid ionic compound into its gaseous constituent ions. Example: NaCl(s) -&gt; Na+(g) + Cl-(g) ; ΔlatticeH = +788 kJ/...</a:t>
            </a:r>
          </a:p>
        </p:txBody>
      </p:sp>
      <p:sp>
        <p:nvSpPr>
          <p:cNvPr id="5" name="TextBox 4"/>
          <p:cNvSpPr txBox="1"/>
          <p:nvPr/>
        </p:nvSpPr>
        <p:spPr>
          <a:xfrm>
            <a:off x="731520" y="6309360"/>
            <a:ext cx="10728655" cy="365760"/>
          </a:xfrm>
          <a:prstGeom prst="rect">
            <a:avLst/>
          </a:prstGeom>
          <a:noFill/>
        </p:spPr>
        <p:txBody>
          <a:bodyPr wrap="none">
            <a:spAutoFit/>
          </a:bodyPr>
          <a:lstStyle/>
          <a:p>
            <a:pPr>
              <a:defRPr sz="1000">
                <a:solidFill>
                  <a:srgbClr val="9CA3AF"/>
                </a:solidFill>
              </a:defRPr>
            </a:pPr>
            <a:r>
              <a:t>ChemBondStudio • NCERT Class 11 Chemistry Chapter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a:spAutoFit/>
          </a:bodyPr>
          <a:lstStyle/>
          <a:p>
            <a:pPr>
              <a:defRPr sz="2200" b="1">
                <a:solidFill>
                  <a:srgbClr val="06B6D4"/>
                </a:solidFill>
              </a:defRPr>
            </a:pPr>
            <a:r>
              <a:t>4.3 BOND PARAMETERS, RESONANCE &amp; POLARITY</a:t>
            </a:r>
          </a:p>
        </p:txBody>
      </p:sp>
      <p:sp>
        <p:nvSpPr>
          <p:cNvPr id="3" name="Rectangle 2"/>
          <p:cNvSpPr/>
          <p:nvPr/>
        </p:nvSpPr>
        <p:spPr>
          <a:xfrm>
            <a:off x="731520" y="1188720"/>
            <a:ext cx="10728655" cy="1005840"/>
          </a:xfrm>
          <a:prstGeom prst="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400">
                <a:solidFill>
                  <a:srgbClr val="FFFFFF"/>
                </a:solidFill>
              </a:defRPr>
            </a:pPr>
            <a:r>
              <a:t>Quantitative metrics describing bond characteristics including length, angle, energy, order, resonance stabilization, and molecular polarity.</a:t>
            </a:r>
          </a:p>
        </p:txBody>
      </p:sp>
      <p:sp>
        <p:nvSpPr>
          <p:cNvPr id="4" name="TextBox 3"/>
          <p:cNvSpPr txBox="1"/>
          <p:nvPr/>
        </p:nvSpPr>
        <p:spPr>
          <a:xfrm>
            <a:off x="731520" y="2377440"/>
            <a:ext cx="10728655" cy="3840480"/>
          </a:xfrm>
          <a:prstGeom prst="rect">
            <a:avLst/>
          </a:prstGeom>
          <a:noFill/>
        </p:spPr>
        <p:txBody>
          <a:bodyPr wrap="square">
            <a:spAutoFit/>
          </a:bodyPr>
          <a:lstStyle/>
          <a:p>
            <a:pPr>
              <a:spcBef>
                <a:spcPts val="1000"/>
              </a:spcBef>
              <a:defRPr sz="1600" b="1">
                <a:solidFill>
                  <a:srgbClr val="6366F1"/>
                </a:solidFill>
              </a:defRPr>
            </a:pPr>
            <a:r>
              <a:t>• 4.3.1 Bond Length &amp; Radii</a:t>
            </a:r>
          </a:p>
          <a:p>
            <a:pPr>
              <a:defRPr sz="1300">
                <a:solidFill>
                  <a:srgbClr val="FFFFFF"/>
                </a:solidFill>
              </a:defRPr>
            </a:pPr>
            <a:r>
              <a:t>   Equilibrium distance between nuclei of two bonded atoms. Measured by spectroscopic, X-ray diffraction, and electron-diffraction methods. Covalent radius is half the internuclear distance between identical bonded atoms. V...</a:t>
            </a:r>
          </a:p>
          <a:p>
            <a:pPr>
              <a:spcBef>
                <a:spcPts val="1000"/>
              </a:spcBef>
              <a:defRPr sz="1600" b="1">
                <a:solidFill>
                  <a:srgbClr val="6366F1"/>
                </a:solidFill>
              </a:defRPr>
            </a:pPr>
            <a:r>
              <a:t>• 4.3.2 Bond Angle &amp; 4.3.3 Bond Enthalpy</a:t>
            </a:r>
          </a:p>
          <a:p>
            <a:pPr>
              <a:defRPr sz="1300">
                <a:solidFill>
                  <a:srgbClr val="FFFFFF"/>
                </a:solidFill>
              </a:defRPr>
            </a:pPr>
            <a:r>
              <a:t>   Bond Angle: Angle between orbitals containing bonding electron pairs around central atom (e.g. H-O-H in H2O is 104.5°). Bond Enthalpy: Amount of energy required to break 1 mole of bonds in gaseous state. Larger bond diss...</a:t>
            </a:r>
          </a:p>
          <a:p>
            <a:pPr>
              <a:spcBef>
                <a:spcPts val="1000"/>
              </a:spcBef>
              <a:defRPr sz="1600" b="1">
                <a:solidFill>
                  <a:srgbClr val="6366F1"/>
                </a:solidFill>
              </a:defRPr>
            </a:pPr>
            <a:r>
              <a:t>• 4.3.4 Bond Order</a:t>
            </a:r>
          </a:p>
          <a:p>
            <a:pPr>
              <a:defRPr sz="1300">
                <a:solidFill>
                  <a:srgbClr val="FFFFFF"/>
                </a:solidFill>
              </a:defRPr>
            </a:pPr>
            <a:r>
              <a:t>   Number of bonds between two atoms in a molecule (H2 = 1, O2 = 2, N2 = 3, CO = 3). Higher bond order -&gt; Higher bond enthalpy -&gt; Shorter bond length. Isoelectronic species (e.g. F2 and O2^2- [B.O.=1]; N2, CO, NO+ [B.O.=3])...</a:t>
            </a:r>
          </a:p>
        </p:txBody>
      </p:sp>
      <p:sp>
        <p:nvSpPr>
          <p:cNvPr id="5" name="TextBox 4"/>
          <p:cNvSpPr txBox="1"/>
          <p:nvPr/>
        </p:nvSpPr>
        <p:spPr>
          <a:xfrm>
            <a:off x="731520" y="6309360"/>
            <a:ext cx="10728655" cy="365760"/>
          </a:xfrm>
          <a:prstGeom prst="rect">
            <a:avLst/>
          </a:prstGeom>
          <a:noFill/>
        </p:spPr>
        <p:txBody>
          <a:bodyPr wrap="none">
            <a:spAutoFit/>
          </a:bodyPr>
          <a:lstStyle/>
          <a:p>
            <a:pPr>
              <a:defRPr sz="1000">
                <a:solidFill>
                  <a:srgbClr val="9CA3AF"/>
                </a:solidFill>
              </a:defRPr>
            </a:pPr>
            <a:r>
              <a:t>ChemBondStudio • NCERT Class 11 Chemistry Chapter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a:spAutoFit/>
          </a:bodyPr>
          <a:lstStyle/>
          <a:p>
            <a:pPr>
              <a:defRPr sz="2200" b="1">
                <a:solidFill>
                  <a:srgbClr val="06B6D4"/>
                </a:solidFill>
              </a:defRPr>
            </a:pPr>
            <a:r>
              <a:t>4.4 VSEPR THEORY (VALENCE SHELL ELECTRON PAIR REPULSION)</a:t>
            </a:r>
          </a:p>
        </p:txBody>
      </p:sp>
      <p:sp>
        <p:nvSpPr>
          <p:cNvPr id="3" name="Rectangle 2"/>
          <p:cNvSpPr/>
          <p:nvPr/>
        </p:nvSpPr>
        <p:spPr>
          <a:xfrm>
            <a:off x="731520" y="1188720"/>
            <a:ext cx="10728655" cy="1005840"/>
          </a:xfrm>
          <a:prstGeom prst="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400">
                <a:solidFill>
                  <a:srgbClr val="FFFFFF"/>
                </a:solidFill>
              </a:defRPr>
            </a:pPr>
            <a:r>
              <a:t>Proposed by Sidgwick &amp; Powell (1940), refined by Nyholm &amp; Gillespie (1957). Molecular shape is determined by repulsions between valence shell electron pairs around central atom.</a:t>
            </a:r>
          </a:p>
        </p:txBody>
      </p:sp>
      <p:sp>
        <p:nvSpPr>
          <p:cNvPr id="4" name="TextBox 3"/>
          <p:cNvSpPr txBox="1"/>
          <p:nvPr/>
        </p:nvSpPr>
        <p:spPr>
          <a:xfrm>
            <a:off x="731520" y="2377440"/>
            <a:ext cx="10728655" cy="3840480"/>
          </a:xfrm>
          <a:prstGeom prst="rect">
            <a:avLst/>
          </a:prstGeom>
          <a:noFill/>
        </p:spPr>
        <p:txBody>
          <a:bodyPr wrap="square">
            <a:spAutoFit/>
          </a:bodyPr>
          <a:lstStyle/>
          <a:p>
            <a:pPr>
              <a:spcBef>
                <a:spcPts val="1000"/>
              </a:spcBef>
              <a:defRPr sz="1600" b="1">
                <a:solidFill>
                  <a:srgbClr val="6366F1"/>
                </a:solidFill>
              </a:defRPr>
            </a:pPr>
            <a:r>
              <a:t>• Main Postulates of VSEPR Theory</a:t>
            </a:r>
          </a:p>
          <a:p>
            <a:pPr>
              <a:defRPr sz="1300">
                <a:solidFill>
                  <a:srgbClr val="FFFFFF"/>
                </a:solidFill>
              </a:defRPr>
            </a:pPr>
            <a:r>
              <a:t>   1. Shape of a molecule depends on number of valence electron pairs (bonded &amp; lone pairs) around central atom. 2. Electron pairs repel each other and orient as far apart as possible to minimize repulsion. 3. Order of repu...</a:t>
            </a:r>
          </a:p>
          <a:p>
            <a:pPr>
              <a:spcBef>
                <a:spcPts val="1000"/>
              </a:spcBef>
              <a:defRPr sz="1600" b="1">
                <a:solidFill>
                  <a:srgbClr val="6366F1"/>
                </a:solidFill>
              </a:defRPr>
            </a:pPr>
            <a:r>
              <a:t>• Geometries without Lone Pairs (ABn Type)</a:t>
            </a:r>
          </a:p>
          <a:p>
            <a:pPr>
              <a:defRPr sz="1300">
                <a:solidFill>
                  <a:srgbClr val="FFFFFF"/>
                </a:solidFill>
              </a:defRPr>
            </a:pPr>
            <a:r>
              <a:t>   - AB2: Linear (180°), e.g. BeCl2, HgCl2 - AB3: Trigonal Planar (120°), e.g. BF3, BCl3 - AB4: Tetrahedral (109.5°), e.g. CH4, NH4+ - AB5: Trigonal Bipyramidal (90° &amp; 120°), e.g. PCl5 - AB6: Octahedral (90°), e.g. SF6</a:t>
            </a:r>
          </a:p>
          <a:p>
            <a:pPr>
              <a:spcBef>
                <a:spcPts val="1000"/>
              </a:spcBef>
              <a:defRPr sz="1600" b="1">
                <a:solidFill>
                  <a:srgbClr val="6366F1"/>
                </a:solidFill>
              </a:defRPr>
            </a:pPr>
            <a:r>
              <a:t>• Geometries with Lone Pairs (ABnEm Type)</a:t>
            </a:r>
          </a:p>
          <a:p>
            <a:pPr>
              <a:defRPr sz="1300">
                <a:solidFill>
                  <a:srgbClr val="FFFFFF"/>
                </a:solidFill>
              </a:defRPr>
            </a:pPr>
            <a:r>
              <a:t>   - AB2E: Bent / V-shaped (&lt;120°), e.g. SO2, O3 - AB3E: Trigonal Pyramidal (107° in NH3) - AB2E2: Bent / V-shaped (104.5° in H2O) - AB4E: See-saw / Distorted Tetrahedron, e.g. SF4 - AB3E2: T-shaped, e.g. ClF3 - AB5E: Squar...</a:t>
            </a:r>
          </a:p>
        </p:txBody>
      </p:sp>
      <p:sp>
        <p:nvSpPr>
          <p:cNvPr id="5" name="TextBox 4"/>
          <p:cNvSpPr txBox="1"/>
          <p:nvPr/>
        </p:nvSpPr>
        <p:spPr>
          <a:xfrm>
            <a:off x="731520" y="6309360"/>
            <a:ext cx="10728655" cy="365760"/>
          </a:xfrm>
          <a:prstGeom prst="rect">
            <a:avLst/>
          </a:prstGeom>
          <a:noFill/>
        </p:spPr>
        <p:txBody>
          <a:bodyPr wrap="none">
            <a:spAutoFit/>
          </a:bodyPr>
          <a:lstStyle/>
          <a:p>
            <a:pPr>
              <a:defRPr sz="1000">
                <a:solidFill>
                  <a:srgbClr val="9CA3AF"/>
                </a:solidFill>
              </a:defRPr>
            </a:pPr>
            <a:r>
              <a:t>ChemBondStudio • NCERT Class 11 Chemistry Chapter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a:spAutoFit/>
          </a:bodyPr>
          <a:lstStyle/>
          <a:p>
            <a:pPr>
              <a:defRPr sz="2200" b="1">
                <a:solidFill>
                  <a:srgbClr val="06B6D4"/>
                </a:solidFill>
              </a:defRPr>
            </a:pPr>
            <a:r>
              <a:t>4.5 VALENCE BOND THEORY (VBT)</a:t>
            </a:r>
          </a:p>
        </p:txBody>
      </p:sp>
      <p:sp>
        <p:nvSpPr>
          <p:cNvPr id="3" name="Rectangle 2"/>
          <p:cNvSpPr/>
          <p:nvPr/>
        </p:nvSpPr>
        <p:spPr>
          <a:xfrm>
            <a:off x="731520" y="1188720"/>
            <a:ext cx="10728655" cy="1005840"/>
          </a:xfrm>
          <a:prstGeom prst="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400">
                <a:solidFill>
                  <a:srgbClr val="FFFFFF"/>
                </a:solidFill>
              </a:defRPr>
            </a:pPr>
            <a:r>
              <a:t>Introduced by Heitler &amp; London (1927), developed by Pauling &amp; Slater. Covalent bonds form by overlapping of atomic orbitals with unpaired electrons of opposite spins.</a:t>
            </a:r>
          </a:p>
        </p:txBody>
      </p:sp>
      <p:sp>
        <p:nvSpPr>
          <p:cNvPr id="4" name="TextBox 3"/>
          <p:cNvSpPr txBox="1"/>
          <p:nvPr/>
        </p:nvSpPr>
        <p:spPr>
          <a:xfrm>
            <a:off x="731520" y="2377440"/>
            <a:ext cx="10728655" cy="3840480"/>
          </a:xfrm>
          <a:prstGeom prst="rect">
            <a:avLst/>
          </a:prstGeom>
          <a:noFill/>
        </p:spPr>
        <p:txBody>
          <a:bodyPr wrap="square">
            <a:spAutoFit/>
          </a:bodyPr>
          <a:lstStyle/>
          <a:p>
            <a:pPr>
              <a:spcBef>
                <a:spcPts val="1000"/>
              </a:spcBef>
              <a:defRPr sz="1600" b="1">
                <a:solidFill>
                  <a:srgbClr val="6366F1"/>
                </a:solidFill>
              </a:defRPr>
            </a:pPr>
            <a:r>
              <a:t>• Orbital Overlap Concept</a:t>
            </a:r>
          </a:p>
          <a:p>
            <a:pPr>
              <a:defRPr sz="1300">
                <a:solidFill>
                  <a:srgbClr val="FFFFFF"/>
                </a:solidFill>
              </a:defRPr>
            </a:pPr>
            <a:r>
              <a:t>   When two atoms approach each other, attractive forces between nuclei and electrons compete with repulsive forces between like charges. Net attraction lowers potential energy, forming a stable covalent bond at internuclea...</a:t>
            </a:r>
          </a:p>
          <a:p>
            <a:pPr>
              <a:spcBef>
                <a:spcPts val="1000"/>
              </a:spcBef>
              <a:defRPr sz="1600" b="1">
                <a:solidFill>
                  <a:srgbClr val="6366F1"/>
                </a:solidFill>
              </a:defRPr>
            </a:pPr>
            <a:r>
              <a:t>• Types of Overlapping: Sigma (σ) and Pi (π) Bonds</a:t>
            </a:r>
          </a:p>
          <a:p>
            <a:pPr>
              <a:defRPr sz="1300">
                <a:solidFill>
                  <a:srgbClr val="FFFFFF"/>
                </a:solidFill>
              </a:defRPr>
            </a:pPr>
            <a:r>
              <a:t>   Sigma (σ) Bond: Formed by end-to-end (head-on / axial) overlap of bonding orbitals along internuclear axis (s-s, s-p, pz-pz overlap). Symmetrical charge distribution. Pi (π) Bond: Formed by lateral (sideways) overlap of ...</a:t>
            </a:r>
          </a:p>
        </p:txBody>
      </p:sp>
      <p:sp>
        <p:nvSpPr>
          <p:cNvPr id="5" name="TextBox 4"/>
          <p:cNvSpPr txBox="1"/>
          <p:nvPr/>
        </p:nvSpPr>
        <p:spPr>
          <a:xfrm>
            <a:off x="731520" y="6309360"/>
            <a:ext cx="10728655" cy="365760"/>
          </a:xfrm>
          <a:prstGeom prst="rect">
            <a:avLst/>
          </a:prstGeom>
          <a:noFill/>
        </p:spPr>
        <p:txBody>
          <a:bodyPr wrap="none">
            <a:spAutoFit/>
          </a:bodyPr>
          <a:lstStyle/>
          <a:p>
            <a:pPr>
              <a:defRPr sz="1000">
                <a:solidFill>
                  <a:srgbClr val="9CA3AF"/>
                </a:solidFill>
              </a:defRPr>
            </a:pPr>
            <a:r>
              <a:t>ChemBondStudio • NCERT Class 11 Chemistry Chapter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a:spAutoFit/>
          </a:bodyPr>
          <a:lstStyle/>
          <a:p>
            <a:pPr>
              <a:defRPr sz="2200" b="1">
                <a:solidFill>
                  <a:srgbClr val="06B6D4"/>
                </a:solidFill>
              </a:defRPr>
            </a:pPr>
            <a:r>
              <a:t>4.6 HYBRIDISATION</a:t>
            </a:r>
          </a:p>
        </p:txBody>
      </p:sp>
      <p:sp>
        <p:nvSpPr>
          <p:cNvPr id="3" name="Rectangle 2"/>
          <p:cNvSpPr/>
          <p:nvPr/>
        </p:nvSpPr>
        <p:spPr>
          <a:xfrm>
            <a:off x="731520" y="1188720"/>
            <a:ext cx="10728655" cy="1005840"/>
          </a:xfrm>
          <a:prstGeom prst="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400">
                <a:solidFill>
                  <a:srgbClr val="FFFFFF"/>
                </a:solidFill>
              </a:defRPr>
            </a:pPr>
            <a:r>
              <a:t>Introduced by Linus Pauling (1931). Phenomenon of mixing atomic orbitals of slightly different energies to redistribute energy, forming a new set of equivalent hybrid orbitals.</a:t>
            </a:r>
          </a:p>
        </p:txBody>
      </p:sp>
      <p:sp>
        <p:nvSpPr>
          <p:cNvPr id="4" name="TextBox 3"/>
          <p:cNvSpPr txBox="1"/>
          <p:nvPr/>
        </p:nvSpPr>
        <p:spPr>
          <a:xfrm>
            <a:off x="731520" y="2377440"/>
            <a:ext cx="10728655" cy="3840480"/>
          </a:xfrm>
          <a:prstGeom prst="rect">
            <a:avLst/>
          </a:prstGeom>
          <a:noFill/>
        </p:spPr>
        <p:txBody>
          <a:bodyPr wrap="square">
            <a:spAutoFit/>
          </a:bodyPr>
          <a:lstStyle/>
          <a:p>
            <a:pPr>
              <a:spcBef>
                <a:spcPts val="1000"/>
              </a:spcBef>
              <a:defRPr sz="1600" b="1">
                <a:solidFill>
                  <a:srgbClr val="6366F1"/>
                </a:solidFill>
              </a:defRPr>
            </a:pPr>
            <a:r>
              <a:t>• Salient Features of Hybridisation</a:t>
            </a:r>
          </a:p>
          <a:p>
            <a:pPr>
              <a:defRPr sz="1300">
                <a:solidFill>
                  <a:srgbClr val="FFFFFF"/>
                </a:solidFill>
              </a:defRPr>
            </a:pPr>
            <a:r>
              <a:t>   1. Number of hybrid orbitals produced equals number of atomic orbitals mixed. 2. Hybrid orbitals are always equivalent in energy and shape. 3. Hybrid orbitals form stronger bonds than unhybridized atomic orbitals. 4. Hyb...</a:t>
            </a:r>
          </a:p>
          <a:p>
            <a:pPr>
              <a:spcBef>
                <a:spcPts val="1000"/>
              </a:spcBef>
              <a:defRPr sz="1600" b="1">
                <a:solidFill>
                  <a:srgbClr val="6366F1"/>
                </a:solidFill>
              </a:defRPr>
            </a:pPr>
            <a:r>
              <a:t>• Types of Hybridisation &amp; Examples</a:t>
            </a:r>
          </a:p>
          <a:p>
            <a:pPr>
              <a:defRPr sz="1300">
                <a:solidFill>
                  <a:srgbClr val="FFFFFF"/>
                </a:solidFill>
              </a:defRPr>
            </a:pPr>
            <a:r>
              <a:t>   - sp Hybridisation: 1s + 1p -&gt; 2 sp orbitals (Linear, 180°), e.g. BeCl2, C2H2. - sp2 Hybridisation: 1s + 2p -&gt; 3 sp2 orbitals (Trigonal Planar, 120°), e.g. BCl3, C2H4. - sp3 Hybridisation: 1s + 3p -&gt; 4 sp3 orbitals (Tetr...</a:t>
            </a:r>
          </a:p>
        </p:txBody>
      </p:sp>
      <p:sp>
        <p:nvSpPr>
          <p:cNvPr id="5" name="TextBox 4"/>
          <p:cNvSpPr txBox="1"/>
          <p:nvPr/>
        </p:nvSpPr>
        <p:spPr>
          <a:xfrm>
            <a:off x="731520" y="6309360"/>
            <a:ext cx="10728655" cy="365760"/>
          </a:xfrm>
          <a:prstGeom prst="rect">
            <a:avLst/>
          </a:prstGeom>
          <a:noFill/>
        </p:spPr>
        <p:txBody>
          <a:bodyPr wrap="none">
            <a:spAutoFit/>
          </a:bodyPr>
          <a:lstStyle/>
          <a:p>
            <a:pPr>
              <a:defRPr sz="1000">
                <a:solidFill>
                  <a:srgbClr val="9CA3AF"/>
                </a:solidFill>
              </a:defRPr>
            </a:pPr>
            <a:r>
              <a:t>ChemBondStudio • NCERT Class 11 Chemistry Chapter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a:spAutoFit/>
          </a:bodyPr>
          <a:lstStyle/>
          <a:p>
            <a:pPr>
              <a:defRPr sz="2200" b="1">
                <a:solidFill>
                  <a:srgbClr val="06B6D4"/>
                </a:solidFill>
              </a:defRPr>
            </a:pPr>
            <a:r>
              <a:t>4.7 &amp; 4.8 MOLECULAR ORBITAL THEORY (MOT)</a:t>
            </a:r>
          </a:p>
        </p:txBody>
      </p:sp>
      <p:sp>
        <p:nvSpPr>
          <p:cNvPr id="3" name="Rectangle 2"/>
          <p:cNvSpPr/>
          <p:nvPr/>
        </p:nvSpPr>
        <p:spPr>
          <a:xfrm>
            <a:off x="731520" y="1188720"/>
            <a:ext cx="10728655" cy="1005840"/>
          </a:xfrm>
          <a:prstGeom prst="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400">
                <a:solidFill>
                  <a:srgbClr val="FFFFFF"/>
                </a:solidFill>
              </a:defRPr>
            </a:pPr>
            <a:r>
              <a:t>Developed by Hund &amp; Mulliken (1932). Electrons in a molecule occupy molecular orbitals spread over all nuclei. Formed by Linear Combination of Atomic Orbitals (LCAO).</a:t>
            </a:r>
          </a:p>
        </p:txBody>
      </p:sp>
      <p:sp>
        <p:nvSpPr>
          <p:cNvPr id="4" name="TextBox 3"/>
          <p:cNvSpPr txBox="1"/>
          <p:nvPr/>
        </p:nvSpPr>
        <p:spPr>
          <a:xfrm>
            <a:off x="731520" y="2377440"/>
            <a:ext cx="10728655" cy="3840480"/>
          </a:xfrm>
          <a:prstGeom prst="rect">
            <a:avLst/>
          </a:prstGeom>
          <a:noFill/>
        </p:spPr>
        <p:txBody>
          <a:bodyPr wrap="square">
            <a:spAutoFit/>
          </a:bodyPr>
          <a:lstStyle/>
          <a:p>
            <a:pPr>
              <a:spcBef>
                <a:spcPts val="1000"/>
              </a:spcBef>
              <a:defRPr sz="1600" b="1">
                <a:solidFill>
                  <a:srgbClr val="6366F1"/>
                </a:solidFill>
              </a:defRPr>
            </a:pPr>
            <a:r>
              <a:t>• Linear Combination of Atomic Orbitals (LCAO)</a:t>
            </a:r>
          </a:p>
          <a:p>
            <a:pPr>
              <a:defRPr sz="1300">
                <a:solidFill>
                  <a:srgbClr val="FFFFFF"/>
                </a:solidFill>
              </a:defRPr>
            </a:pPr>
            <a:r>
              <a:t>   Atomic orbitals combine constructively (addition ψA + ψB -&gt; Bonding MO σ/π, lower energy) and destructively (subtraction ψA - ψB -&gt; Antibonding MO σ*/π*, higher energy). Conditions for LCAO: 1. Combining atomic orbitals ...</a:t>
            </a:r>
          </a:p>
          <a:p>
            <a:pPr>
              <a:spcBef>
                <a:spcPts val="1000"/>
              </a:spcBef>
              <a:defRPr sz="1600" b="1">
                <a:solidFill>
                  <a:srgbClr val="6366F1"/>
                </a:solidFill>
              </a:defRPr>
            </a:pPr>
            <a:r>
              <a:t>• Energy Level Ordering of Molecular Orbitals</a:t>
            </a:r>
          </a:p>
          <a:p>
            <a:pPr>
              <a:defRPr sz="1300">
                <a:solidFill>
                  <a:srgbClr val="FFFFFF"/>
                </a:solidFill>
              </a:defRPr>
            </a:pPr>
            <a:r>
              <a:t>   For Li2, Be2, B2, C2, N2 (Z &lt;= 7, 14 electrons or fewer): σ1s &lt; σ*1s &lt; σ2s &lt; σ*2s &lt; (π2px = π2py) &lt; σ2pz &lt; (π*2px = π*2py) &lt; σ*2pz For O2, F2, Ne2 (Z &gt; 7, more than 14 electrons): σ1s &lt; σ*1s &lt; σ2s &lt; σ*2s &lt; σ2pz &lt; (π2px =...</a:t>
            </a:r>
          </a:p>
          <a:p>
            <a:pPr>
              <a:spcBef>
                <a:spcPts val="1000"/>
              </a:spcBef>
              <a:defRPr sz="1600" b="1">
                <a:solidFill>
                  <a:srgbClr val="6366F1"/>
                </a:solidFill>
              </a:defRPr>
            </a:pPr>
            <a:r>
              <a:t>• Bond Order &amp; Magnetic Properties</a:t>
            </a:r>
          </a:p>
          <a:p>
            <a:pPr>
              <a:defRPr sz="1300">
                <a:solidFill>
                  <a:srgbClr val="FFFFFF"/>
                </a:solidFill>
              </a:defRPr>
            </a:pPr>
            <a:r>
              <a:t>   Bond Order = (1/2) * (Nb - Na) - If Nb &gt; Na -&gt; Stable molecule (Bond order &gt; 0). - If Nb &lt;= Na -&gt; Unstable molecule / does not exist (e.g. He2, Be2 have Bond Order = 0). - Paramagnetic: Contains unpaired electrons in MOs...</a:t>
            </a:r>
          </a:p>
        </p:txBody>
      </p:sp>
      <p:sp>
        <p:nvSpPr>
          <p:cNvPr id="5" name="TextBox 4"/>
          <p:cNvSpPr txBox="1"/>
          <p:nvPr/>
        </p:nvSpPr>
        <p:spPr>
          <a:xfrm>
            <a:off x="731520" y="6309360"/>
            <a:ext cx="10728655" cy="365760"/>
          </a:xfrm>
          <a:prstGeom prst="rect">
            <a:avLst/>
          </a:prstGeom>
          <a:noFill/>
        </p:spPr>
        <p:txBody>
          <a:bodyPr wrap="none">
            <a:spAutoFit/>
          </a:bodyPr>
          <a:lstStyle/>
          <a:p>
            <a:pPr>
              <a:defRPr sz="1000">
                <a:solidFill>
                  <a:srgbClr val="9CA3AF"/>
                </a:solidFill>
              </a:defRPr>
            </a:pPr>
            <a:r>
              <a:t>ChemBondStudio • NCERT Class 11 Chemistry Chapter 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a:spAutoFit/>
          </a:bodyPr>
          <a:lstStyle/>
          <a:p>
            <a:pPr>
              <a:defRPr sz="2200" b="1">
                <a:solidFill>
                  <a:srgbClr val="06B6D4"/>
                </a:solidFill>
              </a:defRPr>
            </a:pPr>
            <a:r>
              <a:t>4.9 HYDROGEN BONDING</a:t>
            </a:r>
          </a:p>
        </p:txBody>
      </p:sp>
      <p:sp>
        <p:nvSpPr>
          <p:cNvPr id="3" name="Rectangle 2"/>
          <p:cNvSpPr/>
          <p:nvPr/>
        </p:nvSpPr>
        <p:spPr>
          <a:xfrm>
            <a:off x="731520" y="1188720"/>
            <a:ext cx="10728655" cy="1005840"/>
          </a:xfrm>
          <a:prstGeom prst="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400">
                <a:solidFill>
                  <a:srgbClr val="FFFFFF"/>
                </a:solidFill>
              </a:defRPr>
            </a:pPr>
            <a:r>
              <a:t>Attractive force which binds hydrogen atom of one molecule with electronegative atom (F, O, N) of another or same molecule.</a:t>
            </a:r>
          </a:p>
        </p:txBody>
      </p:sp>
      <p:sp>
        <p:nvSpPr>
          <p:cNvPr id="4" name="TextBox 3"/>
          <p:cNvSpPr txBox="1"/>
          <p:nvPr/>
        </p:nvSpPr>
        <p:spPr>
          <a:xfrm>
            <a:off x="731520" y="2377440"/>
            <a:ext cx="10728655" cy="3840480"/>
          </a:xfrm>
          <a:prstGeom prst="rect">
            <a:avLst/>
          </a:prstGeom>
          <a:noFill/>
        </p:spPr>
        <p:txBody>
          <a:bodyPr wrap="square">
            <a:spAutoFit/>
          </a:bodyPr>
          <a:lstStyle/>
          <a:p>
            <a:pPr>
              <a:spcBef>
                <a:spcPts val="1000"/>
              </a:spcBef>
              <a:defRPr sz="1600" b="1">
                <a:solidFill>
                  <a:srgbClr val="6366F1"/>
                </a:solidFill>
              </a:defRPr>
            </a:pPr>
            <a:r>
              <a:t>• 4.9.1 Cause of Formation</a:t>
            </a:r>
          </a:p>
          <a:p>
            <a:pPr>
              <a:defRPr sz="1300">
                <a:solidFill>
                  <a:srgbClr val="FFFFFF"/>
                </a:solidFill>
              </a:defRPr>
            </a:pPr>
            <a:r>
              <a:t>   When H is bonded to a highly electronegative atom (F, O, N), shared pair of electrons is pulled towards the electronegative atom, giving hydrogen a partial positive charge (δ+) and the electronegative atom a partial nega...</a:t>
            </a:r>
          </a:p>
          <a:p>
            <a:pPr>
              <a:spcBef>
                <a:spcPts val="1000"/>
              </a:spcBef>
              <a:defRPr sz="1600" b="1">
                <a:solidFill>
                  <a:srgbClr val="6366F1"/>
                </a:solidFill>
              </a:defRPr>
            </a:pPr>
            <a:r>
              <a:t>• 4.9.2 Types of H-Bonds</a:t>
            </a:r>
          </a:p>
          <a:p>
            <a:pPr>
              <a:defRPr sz="1300">
                <a:solidFill>
                  <a:srgbClr val="FFFFFF"/>
                </a:solidFill>
              </a:defRPr>
            </a:pPr>
            <a:r>
              <a:t>   1. Intermolecular Hydrogen Bond: Formed between two different molecules of same or different compounds (e.g. HF...HF, H2O...H2O, alcohol &amp; water). Causes high boiling points and solubility in water. 2. Intramolecular Hyd...</a:t>
            </a:r>
          </a:p>
        </p:txBody>
      </p:sp>
      <p:sp>
        <p:nvSpPr>
          <p:cNvPr id="5" name="TextBox 4"/>
          <p:cNvSpPr txBox="1"/>
          <p:nvPr/>
        </p:nvSpPr>
        <p:spPr>
          <a:xfrm>
            <a:off x="731520" y="6309360"/>
            <a:ext cx="10728655" cy="365760"/>
          </a:xfrm>
          <a:prstGeom prst="rect">
            <a:avLst/>
          </a:prstGeom>
          <a:noFill/>
        </p:spPr>
        <p:txBody>
          <a:bodyPr wrap="none">
            <a:spAutoFit/>
          </a:bodyPr>
          <a:lstStyle/>
          <a:p>
            <a:pPr>
              <a:defRPr sz="1000">
                <a:solidFill>
                  <a:srgbClr val="9CA3AF"/>
                </a:solidFill>
              </a:defRPr>
            </a:pPr>
            <a:r>
              <a:t>ChemBondStudio • NCERT Class 11 Chemistry Chapter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a:spAutoFit/>
          </a:bodyPr>
          <a:lstStyle/>
          <a:p>
            <a:pPr>
              <a:defRPr sz="2200" b="1">
                <a:solidFill>
                  <a:srgbClr val="06B6D4"/>
                </a:solidFill>
              </a:defRPr>
            </a:pPr>
            <a:r>
              <a:t>NCERT CHAPTER EXERCISES &amp; SOLVED SOLUTIONS</a:t>
            </a:r>
          </a:p>
        </p:txBody>
      </p:sp>
      <p:sp>
        <p:nvSpPr>
          <p:cNvPr id="3" name="Rectangle 2"/>
          <p:cNvSpPr/>
          <p:nvPr/>
        </p:nvSpPr>
        <p:spPr>
          <a:xfrm>
            <a:off x="731520" y="1188720"/>
            <a:ext cx="10728655" cy="1005840"/>
          </a:xfrm>
          <a:prstGeom prst="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400">
                <a:solidFill>
                  <a:srgbClr val="FFFFFF"/>
                </a:solidFill>
              </a:defRPr>
            </a:pPr>
            <a:r>
              <a:t>Comprehensive question-by-question solutions for all 40 end-of-chapter exercises in NCERT Class 11 Chemistry Chapter 4.</a:t>
            </a:r>
          </a:p>
        </p:txBody>
      </p:sp>
      <p:sp>
        <p:nvSpPr>
          <p:cNvPr id="4" name="TextBox 3"/>
          <p:cNvSpPr txBox="1"/>
          <p:nvPr/>
        </p:nvSpPr>
        <p:spPr>
          <a:xfrm>
            <a:off x="731520" y="2377440"/>
            <a:ext cx="10728655" cy="3840480"/>
          </a:xfrm>
          <a:prstGeom prst="rect">
            <a:avLst/>
          </a:prstGeom>
          <a:noFill/>
        </p:spPr>
        <p:txBody>
          <a:bodyPr wrap="square">
            <a:spAutoFit/>
          </a:bodyPr>
          <a:lstStyle/>
          <a:p/>
        </p:txBody>
      </p:sp>
      <p:sp>
        <p:nvSpPr>
          <p:cNvPr id="5" name="TextBox 4"/>
          <p:cNvSpPr txBox="1"/>
          <p:nvPr/>
        </p:nvSpPr>
        <p:spPr>
          <a:xfrm>
            <a:off x="731520" y="6309360"/>
            <a:ext cx="10728655" cy="365760"/>
          </a:xfrm>
          <a:prstGeom prst="rect">
            <a:avLst/>
          </a:prstGeom>
          <a:noFill/>
        </p:spPr>
        <p:txBody>
          <a:bodyPr wrap="none">
            <a:spAutoFit/>
          </a:bodyPr>
          <a:lstStyle/>
          <a:p>
            <a:pPr>
              <a:defRPr sz="1000">
                <a:solidFill>
                  <a:srgbClr val="9CA3AF"/>
                </a:solidFill>
              </a:defRPr>
            </a:pPr>
            <a:r>
              <a:t>ChemBondStudio • NCERT Class 11 Chemistry Chapter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